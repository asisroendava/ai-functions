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D2FF"/>
                </a:solidFill>
                <a:latin typeface="Segoe UI"/>
              </a:defRPr>
            </a:pPr>
            <a:r>
              <a:t>AI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Funciones Python Potenciadas por Inteligencia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strands-ai-functions  ·  Python 3.12+  ·  Amazon Bedrock / OpenAI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520440"/>
            <a:ext cx="393192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15F959-EA98-67F2-BA29-88B654D9D091}"/>
              </a:ext>
            </a:extLst>
          </p:cNvPr>
          <p:cNvSpPr txBox="1"/>
          <p:nvPr/>
        </p:nvSpPr>
        <p:spPr>
          <a:xfrm>
            <a:off x="1524000" y="5922264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rPr lang="en-US" dirty="0"/>
              <a:t>Ariel Sisro – Javier Calero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Segoe UI"/>
              </a:defRPr>
            </a:pPr>
            <a:r>
              <a:t>¿Qué es AI Functions?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rPr dirty="0" err="1"/>
              <a:t>Describí</a:t>
            </a:r>
            <a:r>
              <a:rPr dirty="0"/>
              <a:t>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querés</a:t>
            </a:r>
            <a:r>
              <a:rPr dirty="0"/>
              <a:t> → la IA se </a:t>
            </a:r>
            <a:r>
              <a:rPr dirty="0" err="1"/>
              <a:t>encarga</a:t>
            </a:r>
            <a:r>
              <a:rPr dirty="0"/>
              <a:t> del </a:t>
            </a:r>
            <a:r>
              <a:rPr dirty="0" err="1"/>
              <a:t>razonamiento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804672" y="34671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rPr dirty="0"/>
              <a:t>▸  </a:t>
            </a:r>
            <a:r>
              <a:rPr dirty="0" err="1"/>
              <a:t>Decorador</a:t>
            </a:r>
            <a:r>
              <a:rPr dirty="0"/>
              <a:t> @ai_function </a:t>
            </a:r>
            <a:r>
              <a:rPr dirty="0" err="1"/>
              <a:t>transforma</a:t>
            </a:r>
            <a:r>
              <a:rPr dirty="0"/>
              <a:t> </a:t>
            </a:r>
            <a:r>
              <a:rPr dirty="0" err="1"/>
              <a:t>funciones</a:t>
            </a:r>
            <a:r>
              <a:rPr dirty="0"/>
              <a:t> Python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rPr dirty="0"/>
              <a:t>▸  El docstring es </a:t>
            </a:r>
            <a:r>
              <a:rPr dirty="0" err="1"/>
              <a:t>el</a:t>
            </a:r>
            <a:r>
              <a:rPr dirty="0"/>
              <a:t> prompt — </a:t>
            </a:r>
            <a:r>
              <a:rPr dirty="0" err="1"/>
              <a:t>usa</a:t>
            </a:r>
            <a:r>
              <a:rPr dirty="0"/>
              <a:t> {placeholders}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rPr dirty="0"/>
              <a:t>▸  La IA </a:t>
            </a:r>
            <a:r>
              <a:rPr dirty="0" err="1"/>
              <a:t>devuelve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con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tipo</a:t>
            </a:r>
            <a:r>
              <a:rPr dirty="0"/>
              <a:t> </a:t>
            </a:r>
            <a:r>
              <a:rPr dirty="0" err="1"/>
              <a:t>exacto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declaraste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rPr dirty="0"/>
              <a:t>▸  Post-</a:t>
            </a:r>
            <a:r>
              <a:rPr dirty="0" err="1"/>
              <a:t>condiciones</a:t>
            </a:r>
            <a:r>
              <a:rPr dirty="0"/>
              <a:t> </a:t>
            </a:r>
            <a:r>
              <a:rPr dirty="0" err="1"/>
              <a:t>validan</a:t>
            </a:r>
            <a:r>
              <a:rPr dirty="0"/>
              <a:t> y auto-</a:t>
            </a:r>
            <a:r>
              <a:rPr dirty="0" err="1"/>
              <a:t>corrigen</a:t>
            </a:r>
            <a:r>
              <a:rPr dirty="0"/>
              <a:t> la </a:t>
            </a:r>
            <a:r>
              <a:rPr dirty="0" err="1"/>
              <a:t>salida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rPr dirty="0"/>
              <a:t>▸  </a:t>
            </a:r>
            <a:r>
              <a:rPr dirty="0" err="1"/>
              <a:t>Funciona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cualquier</a:t>
            </a:r>
            <a:r>
              <a:rPr dirty="0"/>
              <a:t> </a:t>
            </a:r>
            <a:r>
              <a:rPr dirty="0" err="1"/>
              <a:t>función</a:t>
            </a:r>
            <a:r>
              <a:rPr dirty="0"/>
              <a:t> normal de 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463040"/>
            <a:ext cx="5486400" cy="292608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from </a:t>
            </a:r>
            <a:r>
              <a:rPr dirty="0" err="1"/>
              <a:t>ai_functions</a:t>
            </a:r>
            <a:r>
              <a:rPr dirty="0"/>
              <a:t> import </a:t>
            </a:r>
            <a:r>
              <a:rPr dirty="0" err="1"/>
              <a:t>ai_function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>
                <a:solidFill>
                  <a:srgbClr val="FFFF00"/>
                </a:solidFill>
              </a:rPr>
              <a:t>@ai_function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def </a:t>
            </a:r>
            <a:r>
              <a:rPr dirty="0" err="1">
                <a:solidFill>
                  <a:srgbClr val="92D050"/>
                </a:solidFill>
              </a:rPr>
              <a:t>classify_sentiment</a:t>
            </a:r>
            <a:r>
              <a:rPr dirty="0"/>
              <a:t>(</a:t>
            </a:r>
            <a:r>
              <a:rPr dirty="0">
                <a:solidFill>
                  <a:srgbClr val="00B0F0"/>
                </a:solidFill>
              </a:rPr>
              <a:t>text</a:t>
            </a:r>
            <a:r>
              <a:rPr dirty="0"/>
              <a:t>: str) -&gt; str: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"""Classify the sentiment of the text as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'positive', 'negative', or 'neutral'.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Text: {</a:t>
            </a:r>
            <a:r>
              <a:rPr dirty="0">
                <a:solidFill>
                  <a:srgbClr val="00B0F0"/>
                </a:solidFill>
              </a:rPr>
              <a:t>text</a:t>
            </a:r>
            <a:r>
              <a:rPr dirty="0"/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"""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result = </a:t>
            </a:r>
            <a:r>
              <a:rPr dirty="0" err="1">
                <a:solidFill>
                  <a:srgbClr val="92D050"/>
                </a:solidFill>
              </a:rPr>
              <a:t>classify_sentiment</a:t>
            </a:r>
            <a:r>
              <a:rPr dirty="0"/>
              <a:t>("This movie was great!")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# result → "positive"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5720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Segoe UI"/>
              </a:defRPr>
            </a:pPr>
            <a:r>
              <a:t>→ Seguridad de tipos · Post-condiciones · Composabilidad · Independencia de proveedor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Segoe UI"/>
              </a:defRPr>
            </a:pPr>
            <a:r>
              <a:t>Cómo Funciona Internamente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El bucle de auto-corrección que hace confiable a la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671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645920" cy="118872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7C4DFF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1100">
                <a:solidFill>
                  <a:srgbClr val="CCCCCC"/>
                </a:solidFill>
                <a:latin typeface="Segoe UI"/>
              </a:defRPr>
            </a:pPr>
            <a:r>
              <a:t>Tu código llama</a:t>
            </a:r>
            <a:br/>
            <a:r>
              <a:t>la función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645920"/>
            <a:ext cx="1645920" cy="118872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0D2FF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1100">
                <a:solidFill>
                  <a:srgbClr val="CCCCCC"/>
                </a:solidFill>
                <a:latin typeface="Segoe UI"/>
              </a:defRPr>
            </a:pPr>
            <a:r>
              <a:t>Biblioteca lee docstring</a:t>
            </a:r>
            <a:br/>
            <a:r>
              <a:t>y reemplaza {params}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645920"/>
            <a:ext cx="1645920" cy="118872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7C4DFF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1100">
                <a:solidFill>
                  <a:srgbClr val="CCCCCC"/>
                </a:solidFill>
                <a:latin typeface="Segoe UI"/>
              </a:defRPr>
            </a:pPr>
            <a:r>
              <a:t>Envía prompt al</a:t>
            </a:r>
            <a:br/>
            <a:r>
              <a:t>modelo de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79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199" y="1645920"/>
            <a:ext cx="1645920" cy="118872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0D2FF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1100">
                <a:solidFill>
                  <a:srgbClr val="CCCCCC"/>
                </a:solidFill>
                <a:latin typeface="Segoe UI"/>
              </a:defRPr>
            </a:pPr>
            <a:r>
              <a:t>IA genera</a:t>
            </a:r>
            <a:br/>
            <a: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99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645920"/>
            <a:ext cx="1645920" cy="118872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7C4DFF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1100">
                <a:solidFill>
                  <a:srgbClr val="CCCCCC"/>
                </a:solidFill>
                <a:latin typeface="Segoe UI"/>
              </a:defRPr>
            </a:pPr>
            <a:r>
              <a:t>Parsea al tipo</a:t>
            </a:r>
            <a:br/>
            <a:r>
              <a:t>de retorno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19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21240" y="1645920"/>
            <a:ext cx="1645920" cy="118872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9F43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1100">
                <a:solidFill>
                  <a:srgbClr val="CCCCCC"/>
                </a:solidFill>
                <a:latin typeface="Segoe UI"/>
              </a:defRPr>
            </a:pPr>
            <a:r>
              <a:t>Verifica</a:t>
            </a:r>
            <a:br/>
            <a:r>
              <a:t>post-condiciones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0400"/>
            <a:ext cx="10972800" cy="137160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2918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⟳  Si las post-condiciones fallan → el error se envía de vuelta a la IA → la IA corrige su respuesta → se repite hasta max_attempts.</a:t>
            </a:r>
            <a:br/>
            <a:br/>
            <a:r>
              <a:t>Tu pipeline no produce silenciosamente resultados incorrectos — o da una respuesta correcta o te dice que no pudo.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Segoe UI"/>
              </a:defRPr>
            </a:pPr>
            <a:r>
              <a:t>Tipos de Retorno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rPr dirty="0" err="1"/>
              <a:t>Desde</a:t>
            </a:r>
            <a:r>
              <a:rPr dirty="0"/>
              <a:t> strings hasta </a:t>
            </a:r>
            <a:r>
              <a:rPr dirty="0" err="1"/>
              <a:t>objetos</a:t>
            </a:r>
            <a:r>
              <a:rPr dirty="0"/>
              <a:t> </a:t>
            </a:r>
            <a:r>
              <a:rPr dirty="0" err="1"/>
              <a:t>Pydantic</a:t>
            </a:r>
            <a:r>
              <a:rPr dirty="0"/>
              <a:t> </a:t>
            </a:r>
            <a:r>
              <a:rPr dirty="0" err="1"/>
              <a:t>complejos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804672" y="30861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182880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# </a:t>
            </a:r>
            <a:r>
              <a:rPr dirty="0" err="1"/>
              <a:t>Tipos</a:t>
            </a:r>
            <a:r>
              <a:rPr dirty="0"/>
              <a:t> </a:t>
            </a:r>
            <a:r>
              <a:rPr dirty="0" err="1"/>
              <a:t>primitivos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>
                <a:solidFill>
                  <a:srgbClr val="FFFF00"/>
                </a:solidFill>
              </a:rPr>
              <a:t>@ai_function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def </a:t>
            </a:r>
            <a:r>
              <a:rPr dirty="0" err="1">
                <a:solidFill>
                  <a:srgbClr val="92D050"/>
                </a:solidFill>
              </a:rPr>
              <a:t>count_words</a:t>
            </a:r>
            <a:r>
              <a:rPr dirty="0"/>
              <a:t>(</a:t>
            </a:r>
            <a:r>
              <a:rPr dirty="0">
                <a:solidFill>
                  <a:srgbClr val="00B0F0"/>
                </a:solidFill>
              </a:rPr>
              <a:t>text</a:t>
            </a:r>
            <a:r>
              <a:rPr dirty="0"/>
              <a:t>: str) -&gt; int: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"""Count the number of words in: {</a:t>
            </a:r>
            <a:r>
              <a:rPr dirty="0">
                <a:solidFill>
                  <a:srgbClr val="00B0F0"/>
                </a:solidFill>
              </a:rPr>
              <a:t>text</a:t>
            </a:r>
            <a:r>
              <a:rPr dirty="0"/>
              <a:t>}"""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>
                <a:solidFill>
                  <a:srgbClr val="FFFF00"/>
                </a:solidFill>
              </a:rPr>
              <a:t>@ai_function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def </a:t>
            </a:r>
            <a:r>
              <a:rPr dirty="0" err="1">
                <a:solidFill>
                  <a:srgbClr val="92D050"/>
                </a:solidFill>
              </a:rPr>
              <a:t>is_question</a:t>
            </a:r>
            <a:r>
              <a:rPr dirty="0"/>
              <a:t>(</a:t>
            </a:r>
            <a:r>
              <a:rPr dirty="0">
                <a:solidFill>
                  <a:srgbClr val="00B0F0"/>
                </a:solidFill>
              </a:rPr>
              <a:t>text</a:t>
            </a:r>
            <a:r>
              <a:rPr dirty="0"/>
              <a:t>: str) -&gt; bool: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"""Is this a question? {</a:t>
            </a:r>
            <a:r>
              <a:rPr dirty="0">
                <a:solidFill>
                  <a:srgbClr val="00B0F0"/>
                </a:solidFill>
              </a:rPr>
              <a:t>text</a:t>
            </a:r>
            <a:r>
              <a:rPr dirty="0"/>
              <a:t>}"""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182880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# Literal — </a:t>
            </a:r>
            <a:r>
              <a:rPr dirty="0" err="1"/>
              <a:t>opciones</a:t>
            </a:r>
            <a:r>
              <a:rPr dirty="0"/>
              <a:t> </a:t>
            </a:r>
            <a:r>
              <a:rPr dirty="0" err="1"/>
              <a:t>restringidas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from typing import Literal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sz="1300" dirty="0">
                <a:solidFill>
                  <a:srgbClr val="FFFF00"/>
                </a:solidFill>
                <a:latin typeface="Cascadia Code"/>
              </a:rPr>
              <a:t>@ai_function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def </a:t>
            </a:r>
            <a:r>
              <a:rPr sz="1300" dirty="0">
                <a:solidFill>
                  <a:srgbClr val="92D050"/>
                </a:solidFill>
                <a:latin typeface="Cascadia Code"/>
              </a:rPr>
              <a:t>classify</a:t>
            </a:r>
            <a:r>
              <a:rPr dirty="0"/>
              <a:t>(</a:t>
            </a:r>
            <a:r>
              <a:rPr sz="1300" dirty="0">
                <a:solidFill>
                  <a:srgbClr val="00B0F0"/>
                </a:solidFill>
                <a:latin typeface="Cascadia Code"/>
              </a:rPr>
              <a:t>log</a:t>
            </a:r>
            <a:r>
              <a:rPr dirty="0"/>
              <a:t>: str) -&gt; Literal[        "DEBUG","INFO","WARNING","ERROR","CRITICAL"]:</a:t>
            </a: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"""Classify severity of: {</a:t>
            </a:r>
            <a:r>
              <a:rPr sz="1300" dirty="0">
                <a:solidFill>
                  <a:srgbClr val="00B0F0"/>
                </a:solidFill>
                <a:latin typeface="Cascadia Code"/>
              </a:rPr>
              <a:t>log</a:t>
            </a:r>
            <a:r>
              <a:rPr dirty="0"/>
              <a:t>}"""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698480" cy="2825496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#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Pydantic</a:t>
            </a:r>
            <a:r>
              <a:rPr dirty="0"/>
              <a:t> — </a:t>
            </a:r>
            <a:r>
              <a:rPr dirty="0" err="1"/>
              <a:t>salida</a:t>
            </a:r>
            <a:r>
              <a:rPr dirty="0"/>
              <a:t> </a:t>
            </a:r>
            <a:r>
              <a:rPr dirty="0" err="1"/>
              <a:t>estructurada</a:t>
            </a:r>
            <a:r>
              <a:rPr dirty="0"/>
              <a:t> </a:t>
            </a:r>
            <a:r>
              <a:rPr dirty="0" err="1"/>
              <a:t>compleja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from </a:t>
            </a:r>
            <a:r>
              <a:rPr dirty="0" err="1"/>
              <a:t>pydantic</a:t>
            </a:r>
            <a:r>
              <a:rPr dirty="0"/>
              <a:t> import </a:t>
            </a:r>
            <a:r>
              <a:rPr dirty="0" err="1"/>
              <a:t>BaseModel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class </a:t>
            </a:r>
            <a:r>
              <a:rPr dirty="0" err="1"/>
              <a:t>LogAnalysis</a:t>
            </a:r>
            <a:r>
              <a:rPr dirty="0"/>
              <a:t>(</a:t>
            </a:r>
            <a:r>
              <a:rPr dirty="0" err="1"/>
              <a:t>BaseModel</a:t>
            </a:r>
            <a:r>
              <a:rPr dirty="0"/>
              <a:t>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</a:t>
            </a:r>
            <a:r>
              <a:rPr dirty="0" err="1"/>
              <a:t>log_level</a:t>
            </a:r>
            <a:r>
              <a:rPr dirty="0"/>
              <a:t>: Literal["DEBUG", "INFO", "WARNING", "ERROR", "CRITICAL"]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summary: str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suggestion: str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category: str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confidence: Literal["high", "medium", "low"]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sz="1300" dirty="0">
                <a:solidFill>
                  <a:srgbClr val="FFFF00"/>
                </a:solidFill>
                <a:latin typeface="Cascadia Code"/>
              </a:rPr>
              <a:t>@ai_function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def </a:t>
            </a:r>
            <a:r>
              <a:rPr sz="1300" dirty="0" err="1">
                <a:solidFill>
                  <a:srgbClr val="92D050"/>
                </a:solidFill>
                <a:latin typeface="Cascadia Code"/>
              </a:rPr>
              <a:t>analyze_log</a:t>
            </a:r>
            <a:r>
              <a:rPr dirty="0"/>
              <a:t>(</a:t>
            </a:r>
            <a:r>
              <a:rPr dirty="0" err="1">
                <a:solidFill>
                  <a:srgbClr val="00B0F0"/>
                </a:solidFill>
              </a:rPr>
              <a:t>log_entry</a:t>
            </a:r>
            <a:r>
              <a:rPr dirty="0"/>
              <a:t>: str) -&gt; </a:t>
            </a:r>
            <a:r>
              <a:rPr dirty="0" err="1"/>
              <a:t>LogAnalysis</a:t>
            </a:r>
            <a:r>
              <a:rPr dirty="0"/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"""Analyze this log entry and provide a structured analysis. Log entry: {</a:t>
            </a:r>
            <a:r>
              <a:rPr dirty="0" err="1">
                <a:solidFill>
                  <a:srgbClr val="00B0F0"/>
                </a:solidFill>
              </a:rPr>
              <a:t>log_entry</a:t>
            </a:r>
            <a:r>
              <a:rPr dirty="0"/>
              <a:t>}"""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Segoe UI"/>
              </a:defRPr>
            </a:pPr>
            <a:r>
              <a:t>Post-Condiciones — La Innovación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Transforman salidas de IA poco confiables en resultados validados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1623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Segoe UI"/>
              </a:defRPr>
            </a:pPr>
            <a:r>
              <a:t>Método 1: Funciones Python (verificación determinística)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48256"/>
            <a:ext cx="4956048" cy="288036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def </a:t>
            </a:r>
            <a:r>
              <a:rPr dirty="0" err="1">
                <a:solidFill>
                  <a:srgbClr val="C00000"/>
                </a:solidFill>
              </a:rPr>
              <a:t>check_summary_length</a:t>
            </a:r>
            <a:r>
              <a:rPr dirty="0"/>
              <a:t>(summary: str):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</a:t>
            </a:r>
            <a:r>
              <a:rPr dirty="0" err="1"/>
              <a:t>word_count</a:t>
            </a:r>
            <a:r>
              <a:rPr dirty="0"/>
              <a:t> = </a:t>
            </a:r>
            <a:r>
              <a:rPr dirty="0" err="1"/>
              <a:t>len</a:t>
            </a:r>
            <a:r>
              <a:rPr dirty="0"/>
              <a:t>(</a:t>
            </a:r>
            <a:r>
              <a:rPr dirty="0" err="1"/>
              <a:t>summary.split</a:t>
            </a:r>
            <a:r>
              <a:rPr dirty="0"/>
              <a:t>())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assert </a:t>
            </a:r>
            <a:r>
              <a:rPr dirty="0" err="1"/>
              <a:t>word_count</a:t>
            </a:r>
            <a:r>
              <a:rPr dirty="0"/>
              <a:t> &lt;= 30, \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    </a:t>
            </a:r>
            <a:r>
              <a:rPr dirty="0" err="1"/>
              <a:t>f"Summary</a:t>
            </a:r>
            <a:r>
              <a:rPr dirty="0"/>
              <a:t> has {</a:t>
            </a:r>
            <a:r>
              <a:rPr dirty="0" err="1"/>
              <a:t>word_count</a:t>
            </a:r>
            <a:r>
              <a:rPr dirty="0"/>
              <a:t>} words, max 30"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sz="1300" dirty="0">
                <a:solidFill>
                  <a:srgbClr val="FFFF00"/>
                </a:solidFill>
                <a:latin typeface="Cascadia Code"/>
              </a:rPr>
              <a:t>@ai_function</a:t>
            </a:r>
            <a:r>
              <a:rPr dirty="0"/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</a:t>
            </a:r>
            <a:r>
              <a:rPr dirty="0" err="1"/>
              <a:t>post_conditions</a:t>
            </a:r>
            <a:r>
              <a:rPr dirty="0"/>
              <a:t>=[</a:t>
            </a:r>
            <a:r>
              <a:rPr dirty="0" err="1">
                <a:solidFill>
                  <a:srgbClr val="C00000"/>
                </a:solidFill>
              </a:rPr>
              <a:t>check_summary_length</a:t>
            </a:r>
            <a:r>
              <a:rPr dirty="0"/>
              <a:t>],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</a:t>
            </a:r>
            <a:r>
              <a:rPr dirty="0" err="1"/>
              <a:t>max_attempts</a:t>
            </a:r>
            <a:r>
              <a:rPr dirty="0"/>
              <a:t>=3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def </a:t>
            </a:r>
            <a:r>
              <a:rPr sz="1300" dirty="0" err="1">
                <a:solidFill>
                  <a:srgbClr val="92D050"/>
                </a:solidFill>
                <a:latin typeface="Cascadia Code"/>
              </a:rPr>
              <a:t>summarize_log</a:t>
            </a:r>
            <a:r>
              <a:rPr dirty="0"/>
              <a:t>(</a:t>
            </a:r>
            <a:r>
              <a:rPr dirty="0" err="1">
                <a:solidFill>
                  <a:srgbClr val="00B0F0"/>
                </a:solidFill>
              </a:rPr>
              <a:t>log_entry</a:t>
            </a:r>
            <a:r>
              <a:rPr dirty="0"/>
              <a:t>: str) -&gt; str: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"""Summarize in at most 30 words: {</a:t>
            </a:r>
            <a:r>
              <a:rPr dirty="0" err="1">
                <a:solidFill>
                  <a:srgbClr val="00B0F0"/>
                </a:solidFill>
              </a:rPr>
              <a:t>log_entry</a:t>
            </a:r>
            <a:r>
              <a:rPr dirty="0"/>
              <a:t>}"""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Segoe UI"/>
              </a:defRPr>
            </a:pPr>
            <a:r>
              <a:t>Método 2: Post-condiciones potenciadas por 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48256"/>
            <a:ext cx="5212080" cy="288036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from </a:t>
            </a:r>
            <a:r>
              <a:rPr dirty="0" err="1"/>
              <a:t>ai_functions.types</a:t>
            </a:r>
            <a:r>
              <a:rPr dirty="0"/>
              <a:t> import </a:t>
            </a:r>
            <a:r>
              <a:rPr dirty="0" err="1"/>
              <a:t>PostConditionResult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sz="1300" dirty="0">
                <a:solidFill>
                  <a:srgbClr val="FFFF00"/>
                </a:solidFill>
                <a:latin typeface="Cascadia Code"/>
              </a:rPr>
              <a:t>@ai_function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def </a:t>
            </a:r>
            <a:r>
              <a:rPr sz="1300" dirty="0" err="1">
                <a:solidFill>
                  <a:srgbClr val="92D050"/>
                </a:solidFill>
                <a:latin typeface="Cascadia Code"/>
              </a:rPr>
              <a:t>check_quality</a:t>
            </a:r>
            <a:r>
              <a:rPr dirty="0"/>
              <a:t>(</a:t>
            </a:r>
            <a:r>
              <a:rPr dirty="0">
                <a:solidFill>
                  <a:srgbClr val="00B0F0"/>
                </a:solidFill>
              </a:rPr>
              <a:t>result</a:t>
            </a:r>
            <a:r>
              <a:rPr dirty="0"/>
              <a:t>: </a:t>
            </a:r>
            <a:r>
              <a:rPr dirty="0" err="1"/>
              <a:t>LogAnalysis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) -&gt; </a:t>
            </a:r>
            <a:r>
              <a:rPr dirty="0" err="1"/>
              <a:t>PostConditionResult</a:t>
            </a:r>
            <a:r>
              <a:rPr dirty="0"/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"""Is this suggestion actionable and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specific? Does it mention concrete steps?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Suggestion: {</a:t>
            </a:r>
            <a:r>
              <a:rPr dirty="0" err="1">
                <a:solidFill>
                  <a:srgbClr val="00B0F0"/>
                </a:solidFill>
              </a:rPr>
              <a:t>result</a:t>
            </a:r>
            <a:r>
              <a:rPr dirty="0" err="1"/>
              <a:t>.suggestion</a:t>
            </a:r>
            <a:r>
              <a:rPr dirty="0"/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Category: {</a:t>
            </a:r>
            <a:r>
              <a:rPr dirty="0" err="1">
                <a:solidFill>
                  <a:srgbClr val="00B0F0"/>
                </a:solidFill>
              </a:rPr>
              <a:t>result</a:t>
            </a:r>
            <a:r>
              <a:rPr dirty="0" err="1"/>
              <a:t>.category</a:t>
            </a:r>
            <a:r>
              <a:rPr dirty="0"/>
              <a:t>}"""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9F47B7C-EF15-78C1-CAA3-CC8DE305FBAE}"/>
              </a:ext>
            </a:extLst>
          </p:cNvPr>
          <p:cNvGrpSpPr/>
          <p:nvPr/>
        </p:nvGrpSpPr>
        <p:grpSpPr>
          <a:xfrm>
            <a:off x="731520" y="4974336"/>
            <a:ext cx="10698480" cy="1371600"/>
            <a:chOff x="731520" y="4297680"/>
            <a:chExt cx="10698480" cy="1371600"/>
          </a:xfrm>
        </p:grpSpPr>
        <p:sp>
          <p:nvSpPr>
            <p:cNvPr id="9" name="Rounded Rectangle 8"/>
            <p:cNvSpPr/>
            <p:nvPr/>
          </p:nvSpPr>
          <p:spPr>
            <a:xfrm>
              <a:off x="731520" y="4297680"/>
              <a:ext cx="10698480" cy="1371600"/>
            </a:xfrm>
            <a:prstGeom prst="roundRect">
              <a:avLst/>
            </a:prstGeom>
            <a:solidFill>
              <a:srgbClr val="1E2D4A"/>
            </a:solidFill>
            <a:ln w="19050">
              <a:solidFill>
                <a:srgbClr val="2ECC7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97280" y="4480560"/>
              <a:ext cx="10058400" cy="11887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0">
                  <a:solidFill>
                    <a:srgbClr val="CCCCCC"/>
                  </a:solidFill>
                  <a:latin typeface="Segoe UI"/>
                </a:defRPr>
              </a:pPr>
              <a:r>
                <a:rPr dirty="0"/>
                <a:t>✓  Se </a:t>
              </a:r>
              <a:r>
                <a:rPr dirty="0" err="1"/>
                <a:t>pueden</a:t>
              </a:r>
              <a:r>
                <a:rPr dirty="0"/>
                <a:t> </a:t>
              </a:r>
              <a:r>
                <a:rPr dirty="0" err="1"/>
                <a:t>combinar</a:t>
              </a:r>
              <a:r>
                <a:rPr dirty="0"/>
                <a:t> </a:t>
              </a:r>
              <a:r>
                <a:rPr dirty="0" err="1"/>
                <a:t>múltiples</a:t>
              </a:r>
              <a:r>
                <a:rPr dirty="0"/>
                <a:t> post-</a:t>
              </a:r>
              <a:r>
                <a:rPr dirty="0" err="1"/>
                <a:t>condiciones</a:t>
              </a:r>
              <a:r>
                <a:rPr dirty="0"/>
                <a:t> </a:t>
              </a:r>
              <a:r>
                <a:rPr dirty="0" err="1"/>
                <a:t>en</a:t>
              </a:r>
              <a:r>
                <a:rPr dirty="0"/>
                <a:t> </a:t>
              </a:r>
              <a:r>
                <a:rPr dirty="0" err="1"/>
                <a:t>una</a:t>
              </a:r>
              <a:r>
                <a:rPr dirty="0"/>
                <a:t> sola </a:t>
              </a:r>
              <a:r>
                <a:rPr dirty="0" err="1"/>
                <a:t>función</a:t>
              </a:r>
              <a:br>
                <a:rPr dirty="0"/>
              </a:br>
              <a:r>
                <a:rPr dirty="0"/>
                <a:t>✓  Las post-</a:t>
              </a:r>
              <a:r>
                <a:rPr dirty="0" err="1"/>
                <a:t>condiciones</a:t>
              </a:r>
              <a:r>
                <a:rPr dirty="0"/>
                <a:t> de IA </a:t>
              </a:r>
              <a:r>
                <a:rPr dirty="0" err="1"/>
                <a:t>evalúan</a:t>
              </a:r>
              <a:r>
                <a:rPr dirty="0"/>
                <a:t> </a:t>
              </a:r>
              <a:r>
                <a:rPr dirty="0" err="1"/>
                <a:t>calidad</a:t>
              </a:r>
              <a:r>
                <a:rPr dirty="0"/>
                <a:t> — lo </a:t>
              </a:r>
              <a:r>
                <a:rPr dirty="0" err="1"/>
                <a:t>que</a:t>
              </a:r>
              <a:r>
                <a:rPr dirty="0"/>
                <a:t> </a:t>
              </a:r>
              <a:r>
                <a:rPr dirty="0" err="1"/>
                <a:t>el</a:t>
              </a:r>
              <a:r>
                <a:rPr dirty="0"/>
                <a:t> </a:t>
              </a:r>
              <a:r>
                <a:rPr dirty="0" err="1"/>
                <a:t>código</a:t>
              </a:r>
              <a:r>
                <a:rPr dirty="0"/>
                <a:t> no </a:t>
              </a:r>
              <a:r>
                <a:rPr dirty="0" err="1"/>
                <a:t>puede</a:t>
              </a:r>
              <a:r>
                <a:rPr dirty="0"/>
                <a:t> </a:t>
              </a:r>
              <a:r>
                <a:rPr dirty="0" err="1"/>
                <a:t>verificar</a:t>
              </a:r>
              <a:br>
                <a:rPr dirty="0"/>
              </a:br>
              <a:r>
                <a:rPr dirty="0"/>
                <a:t>✓  Si </a:t>
              </a:r>
              <a:r>
                <a:rPr dirty="0" err="1"/>
                <a:t>fallan</a:t>
              </a:r>
              <a:r>
                <a:rPr dirty="0"/>
                <a:t>, </a:t>
              </a:r>
              <a:r>
                <a:rPr dirty="0" err="1"/>
                <a:t>el</a:t>
              </a:r>
              <a:r>
                <a:rPr dirty="0"/>
                <a:t> error se </a:t>
              </a:r>
              <a:r>
                <a:rPr dirty="0" err="1"/>
                <a:t>envía</a:t>
              </a:r>
              <a:r>
                <a:rPr dirty="0"/>
                <a:t> a la IA y </a:t>
              </a:r>
              <a:r>
                <a:rPr dirty="0" err="1"/>
                <a:t>reintenta</a:t>
              </a:r>
              <a:r>
                <a:rPr dirty="0"/>
                <a:t> </a:t>
              </a:r>
              <a:r>
                <a:rPr dirty="0" err="1"/>
                <a:t>automáticamente</a:t>
              </a:r>
              <a:endParaRPr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Segoe UI"/>
              </a:defRPr>
            </a:pPr>
            <a:r>
              <a:t>Proveedores de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Cambiá de proveedor con una sola línea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3276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3511296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# Amazon Bedrock (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defecto</a:t>
            </a:r>
            <a:r>
              <a:rPr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from </a:t>
            </a:r>
            <a:r>
              <a:rPr dirty="0" err="1"/>
              <a:t>strands.models.bedrock</a:t>
            </a:r>
            <a:r>
              <a:rPr dirty="0"/>
              <a:t> import </a:t>
            </a:r>
            <a:r>
              <a:rPr dirty="0" err="1"/>
              <a:t>BedrockModel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# Claude Sonnet 4 con </a:t>
            </a:r>
            <a:r>
              <a:rPr dirty="0" err="1"/>
              <a:t>inferencia</a:t>
            </a:r>
            <a:r>
              <a:rPr dirty="0"/>
              <a:t> cross-region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model = </a:t>
            </a:r>
            <a:r>
              <a:rPr dirty="0" err="1"/>
              <a:t>BedrockModel</a:t>
            </a:r>
            <a:r>
              <a:rPr dirty="0"/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</a:t>
            </a:r>
            <a:r>
              <a:rPr dirty="0" err="1"/>
              <a:t>model_id</a:t>
            </a:r>
            <a:r>
              <a:rPr dirty="0"/>
              <a:t>="us.anthropic.claude-sonnet-4-"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         "20250514-v1:0"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# Amazon Nova Micro (</a:t>
            </a:r>
            <a:r>
              <a:rPr dirty="0" err="1"/>
              <a:t>rápido</a:t>
            </a:r>
            <a:r>
              <a:rPr dirty="0"/>
              <a:t>, bajo </a:t>
            </a:r>
            <a:r>
              <a:rPr dirty="0" err="1"/>
              <a:t>costo</a:t>
            </a:r>
            <a:r>
              <a:rPr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model = </a:t>
            </a:r>
            <a:r>
              <a:rPr dirty="0" err="1"/>
              <a:t>BedrockModel</a:t>
            </a:r>
            <a:r>
              <a:rPr dirty="0"/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</a:t>
            </a:r>
            <a:r>
              <a:rPr dirty="0" err="1"/>
              <a:t>model_id</a:t>
            </a:r>
            <a:r>
              <a:rPr dirty="0"/>
              <a:t>="us.amazon.nova-micro-v1:0"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182880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# OpenAI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from </a:t>
            </a:r>
            <a:r>
              <a:rPr dirty="0" err="1"/>
              <a:t>strands.models.openai</a:t>
            </a:r>
            <a:r>
              <a:rPr dirty="0"/>
              <a:t> import </a:t>
            </a:r>
            <a:r>
              <a:rPr dirty="0" err="1"/>
              <a:t>OpenAIModel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model = </a:t>
            </a:r>
            <a:r>
              <a:rPr dirty="0" err="1"/>
              <a:t>OpenAIModel</a:t>
            </a:r>
            <a:r>
              <a:rPr dirty="0"/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</a:t>
            </a:r>
            <a:r>
              <a:rPr dirty="0" err="1"/>
              <a:t>client_args</a:t>
            </a:r>
            <a:r>
              <a:rPr dirty="0"/>
              <a:t>={"</a:t>
            </a:r>
            <a:r>
              <a:rPr dirty="0" err="1"/>
              <a:t>api_key</a:t>
            </a:r>
            <a:r>
              <a:rPr dirty="0"/>
              <a:t>": "</a:t>
            </a:r>
            <a:r>
              <a:rPr dirty="0" err="1"/>
              <a:t>sk</a:t>
            </a:r>
            <a:r>
              <a:rPr dirty="0"/>
              <a:t>-..."},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</a:t>
            </a:r>
            <a:r>
              <a:rPr dirty="0" err="1"/>
              <a:t>model_id</a:t>
            </a:r>
            <a:r>
              <a:rPr dirty="0"/>
              <a:t>="gpt-4o"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77056"/>
            <a:ext cx="5212080" cy="109728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# Usar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tus</a:t>
            </a:r>
            <a:r>
              <a:rPr dirty="0"/>
              <a:t> </a:t>
            </a:r>
            <a:r>
              <a:rPr dirty="0" err="1"/>
              <a:t>funciones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@ai_function(</a:t>
            </a:r>
            <a:r>
              <a:rPr dirty="0">
                <a:solidFill>
                  <a:srgbClr val="FFC000"/>
                </a:solidFill>
              </a:rPr>
              <a:t>model=model</a:t>
            </a:r>
            <a:r>
              <a:rPr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def </a:t>
            </a:r>
            <a:r>
              <a:rPr dirty="0" err="1"/>
              <a:t>my_function</a:t>
            </a:r>
            <a:r>
              <a:rPr dirty="0"/>
              <a:t>(text: str) -&gt; str: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"""Process: {text}"""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0096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Segoe UI"/>
              </a:defRPr>
            </a:pPr>
            <a:r>
              <a:rPr dirty="0"/>
              <a:t>💡 El </a:t>
            </a:r>
            <a:r>
              <a:rPr dirty="0" err="1"/>
              <a:t>prefijo</a:t>
            </a:r>
            <a:r>
              <a:rPr dirty="0"/>
              <a:t> us. </a:t>
            </a:r>
            <a:r>
              <a:rPr dirty="0" err="1"/>
              <a:t>en</a:t>
            </a:r>
            <a:r>
              <a:rPr dirty="0"/>
              <a:t> Bedrock </a:t>
            </a:r>
            <a:r>
              <a:rPr dirty="0" err="1"/>
              <a:t>habilita</a:t>
            </a:r>
            <a:r>
              <a:rPr dirty="0"/>
              <a:t> </a:t>
            </a:r>
            <a:r>
              <a:rPr dirty="0" err="1"/>
              <a:t>inferencia</a:t>
            </a:r>
            <a:r>
              <a:rPr dirty="0"/>
              <a:t> cross-region — AWS </a:t>
            </a:r>
            <a:r>
              <a:rPr dirty="0" err="1"/>
              <a:t>enruta</a:t>
            </a:r>
            <a:r>
              <a:rPr dirty="0"/>
              <a:t> </a:t>
            </a:r>
            <a:r>
              <a:rPr dirty="0" err="1"/>
              <a:t>automáticamente</a:t>
            </a:r>
            <a:r>
              <a:rPr dirty="0"/>
              <a:t> a </a:t>
            </a:r>
            <a:r>
              <a:rPr dirty="0" err="1"/>
              <a:t>cualquier</a:t>
            </a:r>
            <a:r>
              <a:rPr dirty="0"/>
              <a:t> </a:t>
            </a:r>
            <a:r>
              <a:rPr dirty="0" err="1"/>
              <a:t>región</a:t>
            </a:r>
            <a:r>
              <a:rPr dirty="0"/>
              <a:t> US disponible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Segoe UI"/>
              </a:defRPr>
            </a:pPr>
            <a:r>
              <a:t>Herramientas y Sistemas Multi-Agente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AI Functions como herramientas de otras AI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3276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2276856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# </a:t>
            </a:r>
            <a:r>
              <a:rPr dirty="0" err="1"/>
              <a:t>Herramientas</a:t>
            </a:r>
            <a:r>
              <a:rPr dirty="0"/>
              <a:t> </a:t>
            </a:r>
            <a:r>
              <a:rPr dirty="0" err="1"/>
              <a:t>externas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from </a:t>
            </a:r>
            <a:r>
              <a:rPr dirty="0" err="1"/>
              <a:t>strands_tools</a:t>
            </a:r>
            <a:r>
              <a:rPr dirty="0"/>
              <a:t> import </a:t>
            </a:r>
            <a:r>
              <a:rPr dirty="0" err="1">
                <a:solidFill>
                  <a:srgbClr val="FFC000"/>
                </a:solidFill>
              </a:rPr>
              <a:t>file_read</a:t>
            </a:r>
            <a:r>
              <a:rPr dirty="0">
                <a:solidFill>
                  <a:srgbClr val="FFC000"/>
                </a:solidFill>
              </a:rPr>
              <a:t>, </a:t>
            </a:r>
            <a:r>
              <a:rPr dirty="0" err="1">
                <a:solidFill>
                  <a:srgbClr val="FFC000"/>
                </a:solidFill>
              </a:rPr>
              <a:t>file_write</a:t>
            </a:r>
            <a:endParaRPr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@ai_function(tools=[</a:t>
            </a:r>
            <a:r>
              <a:rPr dirty="0">
                <a:solidFill>
                  <a:srgbClr val="FFC000"/>
                </a:solidFill>
              </a:rPr>
              <a:t>file_read, </a:t>
            </a:r>
            <a:r>
              <a:rPr dirty="0" err="1">
                <a:solidFill>
                  <a:srgbClr val="FFC000"/>
                </a:solidFill>
              </a:rPr>
              <a:t>file_write</a:t>
            </a:r>
            <a:r>
              <a:rPr dirty="0"/>
              <a:t>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def </a:t>
            </a:r>
            <a:r>
              <a:rPr dirty="0" err="1"/>
              <a:t>summarize_file</a:t>
            </a:r>
            <a:r>
              <a:rPr dirty="0"/>
              <a:t>(path: str,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               output: str) -&gt; Literal["done"]: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"""Read {path} and write a summary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to {output}."""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52744" y="1463040"/>
            <a:ext cx="5669280" cy="425196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# AI Functions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herramientas</a:t>
            </a:r>
            <a:r>
              <a:rPr dirty="0"/>
              <a:t> (multi-</a:t>
            </a:r>
            <a:r>
              <a:rPr dirty="0" err="1"/>
              <a:t>agente</a:t>
            </a:r>
            <a:r>
              <a:rPr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@ai_function(tools=[</a:t>
            </a:r>
            <a:r>
              <a:rPr dirty="0">
                <a:solidFill>
                  <a:srgbClr val="FFC000"/>
                </a:solidFill>
              </a:rPr>
              <a:t>web_search</a:t>
            </a:r>
            <a:r>
              <a:rPr dirty="0"/>
              <a:t>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def </a:t>
            </a:r>
            <a:r>
              <a:rPr dirty="0" err="1">
                <a:solidFill>
                  <a:srgbClr val="FFC000"/>
                </a:solidFill>
              </a:rPr>
              <a:t>websearch</a:t>
            </a:r>
            <a:r>
              <a:rPr dirty="0"/>
              <a:t>(query: str) -&gt; str: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"""Search the web for: {query}"""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>
                <a:solidFill>
                  <a:srgbClr val="FFFF00"/>
                </a:solidFill>
              </a:rPr>
              <a:t>@ai_function</a:t>
            </a:r>
            <a:r>
              <a:rPr dirty="0"/>
              <a:t>(tools=[</a:t>
            </a:r>
            <a:r>
              <a:rPr dirty="0">
                <a:solidFill>
                  <a:srgbClr val="FFC000"/>
                </a:solidFill>
              </a:rPr>
              <a:t>websearch</a:t>
            </a:r>
            <a:r>
              <a:rPr dirty="0"/>
              <a:t>])  # ← </a:t>
            </a:r>
            <a:r>
              <a:rPr dirty="0" err="1"/>
              <a:t>usa</a:t>
            </a:r>
            <a:r>
              <a:rPr dirty="0"/>
              <a:t> la </a:t>
            </a:r>
            <a:r>
              <a:rPr dirty="0" err="1"/>
              <a:t>otra</a:t>
            </a:r>
            <a:r>
              <a:rPr dirty="0"/>
              <a:t>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def </a:t>
            </a:r>
            <a:r>
              <a:rPr dirty="0" err="1">
                <a:solidFill>
                  <a:srgbClr val="92D050"/>
                </a:solidFill>
              </a:rPr>
              <a:t>report_writer</a:t>
            </a:r>
            <a:r>
              <a:rPr dirty="0"/>
              <a:t>(</a:t>
            </a:r>
            <a:r>
              <a:rPr dirty="0">
                <a:solidFill>
                  <a:srgbClr val="00B0F0"/>
                </a:solidFill>
              </a:rPr>
              <a:t>topic</a:t>
            </a:r>
            <a:r>
              <a:rPr dirty="0"/>
              <a:t>: str) -&gt; str: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"""Research {</a:t>
            </a:r>
            <a:r>
              <a:rPr dirty="0">
                <a:solidFill>
                  <a:srgbClr val="00B0F0"/>
                </a:solidFill>
              </a:rPr>
              <a:t>topic</a:t>
            </a:r>
            <a:r>
              <a:rPr dirty="0"/>
              <a:t>} and write a report."""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>
                <a:solidFill>
                  <a:srgbClr val="FFC000"/>
                </a:solidFill>
              </a:rPr>
              <a:t># </a:t>
            </a:r>
            <a:r>
              <a:rPr dirty="0" err="1">
                <a:solidFill>
                  <a:srgbClr val="FFC000"/>
                </a:solidFill>
              </a:rPr>
              <a:t>report_writer</a:t>
            </a:r>
            <a:r>
              <a:rPr dirty="0">
                <a:solidFill>
                  <a:srgbClr val="FFC000"/>
                </a:solidFill>
              </a:rPr>
              <a:t> llama a </a:t>
            </a:r>
            <a:r>
              <a:rPr dirty="0" err="1">
                <a:solidFill>
                  <a:srgbClr val="FFC000"/>
                </a:solidFill>
              </a:rPr>
              <a:t>websearch</a:t>
            </a:r>
            <a:r>
              <a:rPr dirty="0">
                <a:solidFill>
                  <a:srgbClr val="FFC000"/>
                </a:solidFill>
              </a:rPr>
              <a:t> </a:t>
            </a:r>
            <a:r>
              <a:rPr dirty="0" err="1">
                <a:solidFill>
                  <a:srgbClr val="FFC000"/>
                </a:solidFill>
              </a:rPr>
              <a:t>cuando</a:t>
            </a:r>
            <a:r>
              <a:rPr dirty="0">
                <a:solidFill>
                  <a:srgbClr val="FFC000"/>
                </a:solidFill>
              </a:rPr>
              <a:t> </a:t>
            </a:r>
            <a:r>
              <a:rPr dirty="0" err="1">
                <a:solidFill>
                  <a:srgbClr val="FFC000"/>
                </a:solidFill>
              </a:rPr>
              <a:t>necesita</a:t>
            </a:r>
            <a:endParaRPr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>
                <a:solidFill>
                  <a:srgbClr val="FFC000"/>
                </a:solidFill>
              </a:rPr>
              <a:t># </a:t>
            </a:r>
            <a:r>
              <a:rPr dirty="0" err="1">
                <a:solidFill>
                  <a:srgbClr val="FFC000"/>
                </a:solidFill>
              </a:rPr>
              <a:t>websearch</a:t>
            </a:r>
            <a:r>
              <a:rPr dirty="0">
                <a:solidFill>
                  <a:srgbClr val="FFC000"/>
                </a:solidFill>
              </a:rPr>
              <a:t> llama a </a:t>
            </a:r>
            <a:r>
              <a:rPr dirty="0" err="1">
                <a:solidFill>
                  <a:srgbClr val="FFC000"/>
                </a:solidFill>
              </a:rPr>
              <a:t>web_search</a:t>
            </a:r>
            <a:r>
              <a:rPr dirty="0">
                <a:solidFill>
                  <a:srgbClr val="FFC000"/>
                </a:solidFill>
              </a:rPr>
              <a:t> para </a:t>
            </a:r>
            <a:r>
              <a:rPr dirty="0" err="1">
                <a:solidFill>
                  <a:srgbClr val="FFC000"/>
                </a:solidFill>
              </a:rPr>
              <a:t>buscar</a:t>
            </a:r>
            <a:r>
              <a:rPr dirty="0">
                <a:solidFill>
                  <a:srgbClr val="FFC000"/>
                </a:solidFill>
              </a:rPr>
              <a:t> </a:t>
            </a:r>
            <a:r>
              <a:rPr dirty="0" err="1">
                <a:solidFill>
                  <a:srgbClr val="FFC000"/>
                </a:solidFill>
              </a:rPr>
              <a:t>datos</a:t>
            </a:r>
            <a:endParaRPr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>
                <a:solidFill>
                  <a:srgbClr val="FFC000"/>
                </a:solidFill>
              </a:rPr>
              <a:t># El </a:t>
            </a:r>
            <a:r>
              <a:rPr dirty="0" err="1">
                <a:solidFill>
                  <a:srgbClr val="FFC000"/>
                </a:solidFill>
              </a:rPr>
              <a:t>resultado</a:t>
            </a:r>
            <a:r>
              <a:rPr dirty="0">
                <a:solidFill>
                  <a:srgbClr val="FFC000"/>
                </a:solidFill>
              </a:rPr>
              <a:t> </a:t>
            </a:r>
            <a:r>
              <a:rPr dirty="0" err="1">
                <a:solidFill>
                  <a:srgbClr val="FFC000"/>
                </a:solidFill>
              </a:rPr>
              <a:t>fluye</a:t>
            </a:r>
            <a:r>
              <a:rPr dirty="0">
                <a:solidFill>
                  <a:srgbClr val="FFC000"/>
                </a:solidFill>
              </a:rPr>
              <a:t> de </a:t>
            </a:r>
            <a:r>
              <a:rPr dirty="0" err="1">
                <a:solidFill>
                  <a:srgbClr val="FFC000"/>
                </a:solidFill>
              </a:rPr>
              <a:t>vuelta</a:t>
            </a:r>
            <a:r>
              <a:rPr dirty="0">
                <a:solidFill>
                  <a:srgbClr val="FFC000"/>
                </a:solidFill>
              </a:rPr>
              <a:t> al </a:t>
            </a:r>
            <a:r>
              <a:rPr dirty="0" err="1">
                <a:solidFill>
                  <a:srgbClr val="FFC000"/>
                </a:solidFill>
              </a:rPr>
              <a:t>report_writer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Segoe UI"/>
              </a:defRPr>
            </a:pPr>
            <a:r>
              <a:t>→ La IA decide cuándo y cómo usar las herramientas disponibles durante la ejecución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Segoe UI"/>
              </a:defRPr>
            </a:pPr>
            <a:r>
              <a:t>Funciones Asíncronas y Ejecución Paralela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Reducí el tiempo total ejecutando llamadas independientes simultáneamente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671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15290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import </a:t>
            </a:r>
            <a:r>
              <a:rPr dirty="0" err="1"/>
              <a:t>asyncio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>
                <a:solidFill>
                  <a:srgbClr val="FFFF00"/>
                </a:solidFill>
              </a:rPr>
              <a:t>@ai_function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async def </a:t>
            </a:r>
            <a:r>
              <a:rPr dirty="0" err="1">
                <a:solidFill>
                  <a:srgbClr val="92D050"/>
                </a:solidFill>
              </a:rPr>
              <a:t>research_news</a:t>
            </a:r>
            <a:r>
              <a:rPr dirty="0"/>
              <a:t>(stock: str) -&gt; str: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"""Research and summarize current news about: {stock}"""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sz="1300" dirty="0">
                <a:solidFill>
                  <a:srgbClr val="FFFF00"/>
                </a:solidFill>
                <a:latin typeface="Cascadia Code"/>
              </a:rPr>
              <a:t>@ai_function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async def </a:t>
            </a:r>
            <a:r>
              <a:rPr sz="1300" dirty="0" err="1">
                <a:solidFill>
                  <a:srgbClr val="92D050"/>
                </a:solidFill>
                <a:latin typeface="Cascadia Code"/>
              </a:rPr>
              <a:t>research_price</a:t>
            </a:r>
            <a:r>
              <a:rPr dirty="0"/>
              <a:t>(stock: str) -&gt; str: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"""Get the current price information for: {stock}"""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>
                <a:solidFill>
                  <a:srgbClr val="92D050"/>
                </a:solidFill>
              </a:rPr>
              <a:t>async def </a:t>
            </a:r>
            <a:r>
              <a:rPr dirty="0" err="1">
                <a:solidFill>
                  <a:srgbClr val="92D050"/>
                </a:solidFill>
              </a:rPr>
              <a:t>stock_research</a:t>
            </a:r>
            <a:r>
              <a:rPr dirty="0"/>
              <a:t>(stock: str):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</a:t>
            </a:r>
            <a:r>
              <a:rPr dirty="0">
                <a:solidFill>
                  <a:srgbClr val="FFC000"/>
                </a:solidFill>
              </a:rPr>
              <a:t># </a:t>
            </a:r>
            <a:r>
              <a:rPr dirty="0" err="1">
                <a:solidFill>
                  <a:srgbClr val="FFC000"/>
                </a:solidFill>
              </a:rPr>
              <a:t>Ejecutar</a:t>
            </a:r>
            <a:r>
              <a:rPr dirty="0">
                <a:solidFill>
                  <a:srgbClr val="FFC000"/>
                </a:solidFill>
              </a:rPr>
              <a:t> ambas </a:t>
            </a:r>
            <a:r>
              <a:rPr dirty="0" err="1">
                <a:solidFill>
                  <a:srgbClr val="FFC000"/>
                </a:solidFill>
              </a:rPr>
              <a:t>funciones</a:t>
            </a:r>
            <a:r>
              <a:rPr dirty="0">
                <a:solidFill>
                  <a:srgbClr val="FFC000"/>
                </a:solidFill>
              </a:rPr>
              <a:t> </a:t>
            </a:r>
            <a:r>
              <a:rPr dirty="0" err="1">
                <a:solidFill>
                  <a:srgbClr val="FFC000"/>
                </a:solidFill>
              </a:rPr>
              <a:t>simultáneamente</a:t>
            </a:r>
            <a:r>
              <a:rPr dirty="0">
                <a:solidFill>
                  <a:srgbClr val="FFC000"/>
                </a:solidFill>
              </a:rPr>
              <a:t> — reduce </a:t>
            </a:r>
            <a:r>
              <a:rPr dirty="0" err="1">
                <a:solidFill>
                  <a:srgbClr val="FFC000"/>
                </a:solidFill>
              </a:rPr>
              <a:t>el</a:t>
            </a:r>
            <a:r>
              <a:rPr dirty="0">
                <a:solidFill>
                  <a:srgbClr val="FFC000"/>
                </a:solidFill>
              </a:rPr>
              <a:t> </a:t>
            </a:r>
            <a:r>
              <a:rPr dirty="0" err="1">
                <a:solidFill>
                  <a:srgbClr val="FFC000"/>
                </a:solidFill>
              </a:rPr>
              <a:t>tiempo</a:t>
            </a:r>
            <a:r>
              <a:rPr dirty="0">
                <a:solidFill>
                  <a:srgbClr val="FFC000"/>
                </a:solidFill>
              </a:rPr>
              <a:t> a la </a:t>
            </a:r>
            <a:r>
              <a:rPr dirty="0" err="1">
                <a:solidFill>
                  <a:srgbClr val="FFC000"/>
                </a:solidFill>
              </a:rPr>
              <a:t>mitad</a:t>
            </a:r>
            <a:endParaRPr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</a:t>
            </a:r>
            <a:r>
              <a:rPr dirty="0">
                <a:solidFill>
                  <a:srgbClr val="00B0F0"/>
                </a:solidFill>
              </a:rPr>
              <a:t>news, price </a:t>
            </a:r>
            <a:r>
              <a:rPr dirty="0"/>
              <a:t>= await </a:t>
            </a:r>
            <a:r>
              <a:rPr dirty="0" err="1"/>
              <a:t>asyncio.gather</a:t>
            </a:r>
            <a:r>
              <a:rPr dirty="0"/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    </a:t>
            </a:r>
            <a:r>
              <a:rPr dirty="0" err="1">
                <a:solidFill>
                  <a:srgbClr val="92D050"/>
                </a:solidFill>
              </a:rPr>
              <a:t>research_news</a:t>
            </a:r>
            <a:r>
              <a:rPr dirty="0"/>
              <a:t>(stock),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    </a:t>
            </a:r>
            <a:r>
              <a:rPr dirty="0" err="1">
                <a:solidFill>
                  <a:srgbClr val="92D050"/>
                </a:solidFill>
              </a:rPr>
              <a:t>research_price</a:t>
            </a:r>
            <a:r>
              <a:rPr dirty="0"/>
              <a:t>(stock)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return {"news": </a:t>
            </a:r>
            <a:r>
              <a:rPr dirty="0">
                <a:solidFill>
                  <a:srgbClr val="00B0F0"/>
                </a:solidFill>
              </a:rPr>
              <a:t>news</a:t>
            </a:r>
            <a:r>
              <a:rPr dirty="0"/>
              <a:t>, "price": </a:t>
            </a:r>
            <a:r>
              <a:rPr dirty="0">
                <a:solidFill>
                  <a:srgbClr val="00B0F0"/>
                </a:solidFill>
              </a:rPr>
              <a:t>price</a:t>
            </a:r>
            <a:r>
              <a:rPr dirty="0"/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result = </a:t>
            </a:r>
            <a:r>
              <a:rPr dirty="0" err="1"/>
              <a:t>asyncio.run</a:t>
            </a:r>
            <a:r>
              <a:rPr dirty="0"/>
              <a:t>(</a:t>
            </a:r>
            <a:r>
              <a:rPr dirty="0" err="1"/>
              <a:t>stock_research</a:t>
            </a:r>
            <a:r>
              <a:rPr dirty="0"/>
              <a:t>("AAPL"))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rPr dirty="0"/>
              <a:t>▸  Sin async: las </a:t>
            </a:r>
            <a:r>
              <a:rPr dirty="0" err="1"/>
              <a:t>llamadas</a:t>
            </a:r>
            <a:r>
              <a:rPr dirty="0"/>
              <a:t> </a:t>
            </a:r>
            <a:r>
              <a:rPr dirty="0" err="1"/>
              <a:t>corren</a:t>
            </a:r>
            <a:r>
              <a:rPr dirty="0"/>
              <a:t> </a:t>
            </a:r>
            <a:r>
              <a:rPr dirty="0" err="1"/>
              <a:t>secuencialmente</a:t>
            </a:r>
            <a:r>
              <a:rPr dirty="0"/>
              <a:t> (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después</a:t>
            </a:r>
            <a:r>
              <a:rPr dirty="0"/>
              <a:t> de </a:t>
            </a:r>
            <a:r>
              <a:rPr dirty="0" err="1"/>
              <a:t>otra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rPr dirty="0"/>
              <a:t>▸  Con async + </a:t>
            </a:r>
            <a:r>
              <a:rPr dirty="0" err="1"/>
              <a:t>asyncio.gather</a:t>
            </a:r>
            <a:r>
              <a:rPr dirty="0"/>
              <a:t>: </a:t>
            </a:r>
            <a:r>
              <a:rPr dirty="0" err="1"/>
              <a:t>corren</a:t>
            </a:r>
            <a:r>
              <a:rPr dirty="0"/>
              <a:t> al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—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total se reduce ~50%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Segoe UI"/>
              </a:defRPr>
            </a:pPr>
            <a:r>
              <a:rPr dirty="0" err="1"/>
              <a:t>Ejemplo</a:t>
            </a:r>
            <a:r>
              <a:rPr dirty="0"/>
              <a:t> Real: Pipeline del Log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5 AI Functions encadenadas para analizar logs de producción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9184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920240" cy="100584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D2FF"/>
                </a:solidFill>
                <a:latin typeface="Cascadia Code"/>
              </a:defRPr>
            </a:pPr>
            <a:r>
              <a:t>classify_severity</a:t>
            </a:r>
          </a:p>
          <a:p>
            <a:pPr algn="ctr">
              <a:defRPr sz="1200">
                <a:solidFill>
                  <a:srgbClr val="CCCCCC"/>
                </a:solidFill>
                <a:latin typeface="Segoe UI"/>
              </a:defRPr>
            </a:pPr>
            <a:r>
              <a:t>Clasificar</a:t>
            </a:r>
            <a:br/>
            <a:r>
              <a:t>severidad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19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554480"/>
            <a:ext cx="1920240" cy="100584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7C4DFF"/>
                </a:solidFill>
                <a:latin typeface="Cascadia Code"/>
              </a:defRPr>
            </a:pPr>
            <a:r>
              <a:t>categorize_log</a:t>
            </a:r>
          </a:p>
          <a:p>
            <a:pPr algn="ctr">
              <a:defRPr sz="1200">
                <a:solidFill>
                  <a:srgbClr val="CCCCCC"/>
                </a:solidFill>
                <a:latin typeface="Segoe UI"/>
              </a:defRPr>
            </a:pPr>
            <a:r>
              <a:t>Categorizar</a:t>
            </a:r>
            <a:br/>
            <a:r>
              <a:t>(9 categorías)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19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554480"/>
            <a:ext cx="1920240" cy="100584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ECC71"/>
                </a:solidFill>
                <a:latin typeface="Cascadia Code"/>
              </a:defRPr>
            </a:pPr>
            <a:r>
              <a:t>summarize_log</a:t>
            </a:r>
          </a:p>
          <a:p>
            <a:pPr algn="ctr">
              <a:defRPr sz="1200">
                <a:solidFill>
                  <a:srgbClr val="CCCCCC"/>
                </a:solidFill>
                <a:latin typeface="Segoe UI"/>
              </a:defRPr>
            </a:pPr>
            <a:r>
              <a:t>Resumir</a:t>
            </a:r>
            <a:br/>
            <a:r>
              <a:t>(≤30 palabras)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19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554480"/>
            <a:ext cx="1920240" cy="100584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9F43"/>
                </a:solidFill>
                <a:latin typeface="Cascadia Code"/>
              </a:defRPr>
            </a:pPr>
            <a:r>
              <a:t>suggest_fix</a:t>
            </a:r>
          </a:p>
          <a:p>
            <a:pPr algn="ctr">
              <a:defRPr sz="1200">
                <a:solidFill>
                  <a:srgbClr val="CCCCCC"/>
                </a:solidFill>
                <a:latin typeface="Segoe UI"/>
              </a:defRPr>
            </a:pPr>
            <a:r>
              <a:t>Sugerir</a:t>
            </a:r>
            <a:br/>
            <a:r>
              <a:t>corrección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19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554480"/>
            <a:ext cx="1920240" cy="100584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6464"/>
                </a:solidFill>
                <a:latin typeface="Cascadia Code"/>
              </a:defRPr>
            </a:pPr>
            <a:r>
              <a:t>validate_quality</a:t>
            </a:r>
          </a:p>
          <a:p>
            <a:pPr algn="ctr">
              <a:defRPr sz="1200">
                <a:solidFill>
                  <a:srgbClr val="CCCCCC"/>
                </a:solidFill>
                <a:latin typeface="Segoe UI"/>
              </a:defRPr>
            </a:pPr>
            <a:r>
              <a:t>Validar</a:t>
            </a:r>
            <a:br/>
            <a:r>
              <a:t>calidad (IA)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34640"/>
            <a:ext cx="10972800" cy="320040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def </a:t>
            </a:r>
            <a:r>
              <a:rPr dirty="0" err="1"/>
              <a:t>analyze_log</a:t>
            </a:r>
            <a:r>
              <a:rPr dirty="0"/>
              <a:t>(</a:t>
            </a:r>
            <a:r>
              <a:rPr dirty="0" err="1"/>
              <a:t>log_entry</a:t>
            </a:r>
            <a:r>
              <a:rPr dirty="0"/>
              <a:t>: str) -&gt; </a:t>
            </a:r>
            <a:r>
              <a:rPr dirty="0" err="1"/>
              <a:t>LogAnalysis</a:t>
            </a:r>
            <a:r>
              <a:rPr dirty="0"/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severity = </a:t>
            </a:r>
            <a:r>
              <a:rPr dirty="0" err="1"/>
              <a:t>classify_severity</a:t>
            </a:r>
            <a:r>
              <a:rPr dirty="0"/>
              <a:t>(</a:t>
            </a:r>
            <a:r>
              <a:rPr dirty="0" err="1"/>
              <a:t>log_entry</a:t>
            </a:r>
            <a:r>
              <a:rPr dirty="0"/>
              <a:t>)           # Paso 1: ¿</a:t>
            </a:r>
            <a:r>
              <a:rPr dirty="0" err="1"/>
              <a:t>Qué</a:t>
            </a:r>
            <a:r>
              <a:rPr dirty="0"/>
              <a:t> tan grave es?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category = </a:t>
            </a:r>
            <a:r>
              <a:rPr dirty="0" err="1"/>
              <a:t>categorize_log</a:t>
            </a:r>
            <a:r>
              <a:rPr dirty="0"/>
              <a:t>(</a:t>
            </a:r>
            <a:r>
              <a:rPr dirty="0" err="1"/>
              <a:t>log_entry</a:t>
            </a:r>
            <a:r>
              <a:rPr dirty="0"/>
              <a:t>)              # Paso 2: 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tipo</a:t>
            </a:r>
            <a:r>
              <a:rPr dirty="0"/>
              <a:t> de </a:t>
            </a:r>
            <a:r>
              <a:rPr dirty="0" err="1"/>
              <a:t>problema</a:t>
            </a:r>
            <a:r>
              <a:rPr dirty="0"/>
              <a:t>?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summary  = </a:t>
            </a:r>
            <a:r>
              <a:rPr dirty="0" err="1"/>
              <a:t>summarize_log</a:t>
            </a:r>
            <a:r>
              <a:rPr dirty="0"/>
              <a:t>(</a:t>
            </a:r>
            <a:r>
              <a:rPr dirty="0" err="1"/>
              <a:t>log_entry</a:t>
            </a:r>
            <a:r>
              <a:rPr dirty="0"/>
              <a:t>, severity, category)  # Paso 3: </a:t>
            </a:r>
            <a:r>
              <a:rPr dirty="0" err="1"/>
              <a:t>Resumen</a:t>
            </a:r>
            <a:r>
              <a:rPr dirty="0"/>
              <a:t> (≤30 palabras)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if severity in ("WARNING", "ERROR", "CRITICAL"):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    suggestion = </a:t>
            </a:r>
            <a:r>
              <a:rPr dirty="0" err="1"/>
              <a:t>suggest_fix</a:t>
            </a:r>
            <a:r>
              <a:rPr dirty="0"/>
              <a:t>(</a:t>
            </a:r>
            <a:r>
              <a:rPr dirty="0" err="1"/>
              <a:t>log_entry</a:t>
            </a:r>
            <a:r>
              <a:rPr dirty="0"/>
              <a:t>, severity, category, summary)   # Paso 4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    result = </a:t>
            </a:r>
            <a:r>
              <a:rPr dirty="0" err="1"/>
              <a:t>LogAnalysis</a:t>
            </a:r>
            <a:r>
              <a:rPr dirty="0"/>
              <a:t>(</a:t>
            </a:r>
            <a:r>
              <a:rPr dirty="0" err="1"/>
              <a:t>log_level</a:t>
            </a:r>
            <a:r>
              <a:rPr dirty="0"/>
              <a:t>=severity, summary=summary, suggestion=suggestion, ...)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   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    for _attempt in range(2):                     # Paso 5: Validar </a:t>
            </a:r>
            <a:r>
              <a:rPr dirty="0" err="1"/>
              <a:t>calidad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        validation = </a:t>
            </a:r>
            <a:r>
              <a:rPr dirty="0" err="1"/>
              <a:t>validate_suggestion_quality</a:t>
            </a:r>
            <a:r>
              <a:rPr dirty="0"/>
              <a:t>(result)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        if </a:t>
            </a:r>
            <a:r>
              <a:rPr dirty="0" err="1"/>
              <a:t>validation.passed</a:t>
            </a:r>
            <a:r>
              <a:rPr dirty="0"/>
              <a:t>: break               # ✓ </a:t>
            </a:r>
            <a:r>
              <a:rPr dirty="0" err="1"/>
              <a:t>Sugerencia</a:t>
            </a:r>
            <a:r>
              <a:rPr dirty="0"/>
              <a:t> es </a:t>
            </a:r>
            <a:r>
              <a:rPr dirty="0" err="1"/>
              <a:t>buena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        suggestion = </a:t>
            </a:r>
            <a:r>
              <a:rPr dirty="0" err="1"/>
              <a:t>suggest_fix</a:t>
            </a:r>
            <a:r>
              <a:rPr dirty="0"/>
              <a:t>(...)              # ✗ </a:t>
            </a:r>
            <a:r>
              <a:rPr dirty="0" err="1"/>
              <a:t>Reintentar</a:t>
            </a:r>
            <a:r>
              <a:rPr dirty="0"/>
              <a:t> con </a:t>
            </a:r>
            <a:r>
              <a:rPr dirty="0" err="1"/>
              <a:t>mejor</a:t>
            </a:r>
            <a:r>
              <a:rPr dirty="0"/>
              <a:t> </a:t>
            </a:r>
            <a:r>
              <a:rPr dirty="0" err="1"/>
              <a:t>sugerencia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    else: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        result = </a:t>
            </a:r>
            <a:r>
              <a:rPr dirty="0" err="1"/>
              <a:t>result.model_copy</a:t>
            </a:r>
            <a:r>
              <a:rPr dirty="0"/>
              <a:t>(update={"confidence": "low"})  # </a:t>
            </a:r>
            <a:r>
              <a:rPr dirty="0" err="1"/>
              <a:t>Degradar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falla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ABB2BF"/>
                </a:solidFill>
                <a:latin typeface="Cascadia Code"/>
              </a:defRPr>
            </a:pPr>
            <a:r>
              <a:rPr dirty="0"/>
              <a:t>        return 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Segoe UI"/>
              </a:defRPr>
            </a:pPr>
            <a:r>
              <a:t>Mejores Prácticas y Recursos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Consejos para sacar el máximo provecho de AI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276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Segoe UI"/>
              </a:defRPr>
            </a:pPr>
            <a:r>
              <a:t>Escribiendo 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▸  Sé específico en los prompts — incluí restricciones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▸  Usá Literal[] para opciones fijas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▸  Pydantic para salida estructurada compleja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▸  Post-condiciones determinísticas + de 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▸  max_attempts=3 es un buen valor por defecto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Segoe UI"/>
              </a:defRPr>
            </a:pPr>
            <a:r>
              <a:t>Rendimiento y Arquitectura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▸  Modelos rápidos para tareas simples (Haiku, Nova)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▸  Modelos potentes para análisis (Sonnet)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▸  async + gather para llamadas independientes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▸  AIFunctionConfig para configs reutilizables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▸  Siempre manejá excepciones gracefully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698480" cy="137160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📚  GitHub: github.com/strands-labs/ai-functions</a:t>
            </a:r>
            <a:br>
              <a:rPr dirty="0"/>
            </a:br>
            <a:r>
              <a:rPr dirty="0"/>
              <a:t>📖  Tutorial </a:t>
            </a:r>
            <a:r>
              <a:rPr dirty="0" err="1"/>
              <a:t>completo</a:t>
            </a:r>
            <a:r>
              <a:rPr dirty="0"/>
              <a:t>: docs/tutorial.md</a:t>
            </a:r>
            <a:br>
              <a:rPr dirty="0"/>
            </a:br>
            <a:r>
              <a:rPr dirty="0"/>
              <a:t>🔧  </a:t>
            </a:r>
            <a:r>
              <a:rPr dirty="0" err="1"/>
              <a:t>Ejemplo</a:t>
            </a:r>
            <a:r>
              <a:rPr dirty="0"/>
              <a:t> real (Log Analyzer): documentation/design.md + documentation/architecture.md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6750E0-5D63-9A17-9AB5-5CCF38059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FBAFFC0-9064-8416-EABF-7FC40DFC1B93}"/>
              </a:ext>
            </a:extLst>
          </p:cNvPr>
          <p:cNvSpPr txBox="1"/>
          <p:nvPr/>
        </p:nvSpPr>
        <p:spPr>
          <a:xfrm>
            <a:off x="886968" y="2844225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2FF"/>
                </a:solidFill>
                <a:latin typeface="Segoe UI"/>
              </a:defRPr>
            </a:pPr>
            <a:r>
              <a:rPr lang="en-US" dirty="0"/>
              <a:t>DEMO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3048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35BAE0-72CB-D105-3B75-B04754D67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4B4C753-2C12-C3D9-F037-A21731D31201}"/>
              </a:ext>
            </a:extLst>
          </p:cNvPr>
          <p:cNvSpPr txBox="1"/>
          <p:nvPr/>
        </p:nvSpPr>
        <p:spPr>
          <a:xfrm>
            <a:off x="886968" y="2844225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2FF"/>
                </a:solidFill>
                <a:latin typeface="Segoe UI"/>
              </a:defRPr>
            </a:pPr>
            <a:r>
              <a:rPr lang="en-US" dirty="0" err="1"/>
              <a:t>Preguntas</a:t>
            </a:r>
            <a:r>
              <a:rPr lang="en-US" dirty="0"/>
              <a:t>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623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63de93b7-8949-4e3d-a08b-0d778f7f5cab}" enabled="1" method="Standard" siteId="{0b3fc178-b730-4e8b-9843-e81259237b7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2942</TotalTime>
  <Words>1660</Words>
  <Application>Microsoft Office PowerPoint</Application>
  <PresentationFormat>Widescreen</PresentationFormat>
  <Paragraphs>222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Ariel Sisro</cp:lastModifiedBy>
  <cp:revision>4</cp:revision>
  <dcterms:created xsi:type="dcterms:W3CDTF">2013-01-27T09:14:16Z</dcterms:created>
  <dcterms:modified xsi:type="dcterms:W3CDTF">2026-04-15T19:17:45Z</dcterms:modified>
  <cp:category/>
</cp:coreProperties>
</file>